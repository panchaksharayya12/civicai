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0" y="0"/>
            <a:ext cx="1218895" cy="6858000"/>
          </a:xfrm>
          <a:prstGeom prst="rect">
            <a:avLst/>
          </a:prstGeom>
          <a:solidFill>
            <a:srgbClr val="1C1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7880" y="0"/>
            <a:ext cx="365760" cy="6858000"/>
          </a:xfrm>
          <a:prstGeom prst="rect">
            <a:avLst/>
          </a:prstGeom>
          <a:solidFill>
            <a:srgbClr val="302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9728" cy="3474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✦ BEACON EDITION // AUTONOMOUS CIVIC GOVTECH</a:t>
            </a:r>
          </a:p>
          <a:p>
            <a:pPr>
              <a:spcBef>
                <a:spcPts val="1200"/>
              </a:spcBef>
              <a:defRPr sz="3800" b="1">
                <a:solidFill>
                  <a:srgbClr val="FFFFFF"/>
                </a:solidFill>
                <a:latin typeface="Georgia"/>
              </a:defRPr>
            </a:pPr>
            <a:r>
              <a:t>CivicAI — Smart Public Issue Resolution</a:t>
            </a:r>
          </a:p>
          <a:p>
            <a:pPr>
              <a:spcBef>
                <a:spcPts val="1400"/>
              </a:spcBef>
              <a:defRPr sz="1700">
                <a:solidFill>
                  <a:srgbClr val="FEF3C7"/>
                </a:solidFill>
                <a:latin typeface="Segoe UI"/>
              </a:defRPr>
            </a:pPr>
            <a:r>
              <a:t>A New Beacon for Municipal Governance: Computer Vision Defect Triage, Algorithmic Urgency &amp; Verified Site Closure.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297680"/>
            <a:ext cx="2377440" cy="5486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✦ 96.4% Vision 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297680"/>
            <a:ext cx="2377440" cy="5486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✦ 110m Deduplication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297680"/>
            <a:ext cx="2377440" cy="5486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✦ Zero Ghost Closures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39" y="4297680"/>
            <a:ext cx="2377440" cy="5486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59" y="43891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✦ 24h Guaranteed SLA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212080"/>
            <a:ext cx="10058400" cy="91440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349240"/>
            <a:ext cx="9509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PROTOTYPE SPECIFICATION &amp; DEMO DECK  •  BENGALURU SMART CITY PILOT  •  TICKET #CA1024 SHOWCASE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</a:defRPr>
            </a:pPr>
            <a:r>
              <a:t>Designed for Hackathon Presentation  |  React Frontend  •  Python FastAPI Engine  •  Leaflet Tactical GIS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THE GROUND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Municipal Helplines Don't Suffer from Lack of Complaints — They Drown in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Traditional municipal portals fail because they treat every grievance with blind first-in-first-out logic.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37560" cy="42062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SYSTEMIC FAILURE #1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Georgia"/>
              </a:defRPr>
            </a:pPr>
            <a:r>
              <a:t>First-In-First-Out Queue Paralysis</a:t>
            </a:r>
          </a:p>
          <a:p>
            <a:pPr>
              <a:spcBef>
                <a:spcPts val="1200"/>
              </a:spcBef>
              <a:defRPr sz="1300">
                <a:solidFill>
                  <a:srgbClr val="9CA3AF"/>
                </a:solidFill>
              </a:defRPr>
            </a:pPr>
            <a:r>
              <a:t>Grievance portals queue reports chronologically without assessing risk. A trivial cosmetic complaint filed at 8:00 AM gets processed before a lethal 4-foot open drainage manhole on a school corridor.</a:t>
            </a:r>
          </a:p>
          <a:p>
            <a:pPr>
              <a:spcBef>
                <a:spcPts val="1600"/>
              </a:spcBef>
              <a:defRPr sz="1200" b="1">
                <a:solidFill>
                  <a:srgbClr val="EF4444"/>
                </a:solidFill>
              </a:defRPr>
            </a:pPr>
            <a:r>
              <a:t>Result: High-hazard delays &amp; avoidable casualties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2011680"/>
            <a:ext cx="3337560" cy="42062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SYSTEMIC FAILURE #2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Georgia"/>
              </a:defRPr>
            </a:pPr>
            <a:r>
              <a:t>42% Duplicate Report Spam</a:t>
            </a:r>
          </a:p>
          <a:p>
            <a:pPr>
              <a:spcBef>
                <a:spcPts val="1200"/>
              </a:spcBef>
              <a:defRPr sz="1300">
                <a:solidFill>
                  <a:srgbClr val="9CA3AF"/>
                </a:solidFill>
              </a:defRPr>
            </a:pPr>
            <a:r>
              <a:t>When an arterial road pothole appears near Infosys Gate 3, dozens of commuters photograph and submit it. Authorities receive 25 separate tickets, wasting hours cross-checking redundant complaints.</a:t>
            </a:r>
          </a:p>
          <a:p>
            <a:pPr>
              <a:spcBef>
                <a:spcPts val="1600"/>
              </a:spcBef>
              <a:defRPr sz="1200" b="1">
                <a:solidFill>
                  <a:srgbClr val="F59E0B"/>
                </a:solidFill>
              </a:defRPr>
            </a:pPr>
            <a:r>
              <a:t>Result: Call center burnout &amp; delayed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01584" y="2011680"/>
            <a:ext cx="3337560" cy="420624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75904" y="2377440"/>
            <a:ext cx="2788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SYSTEMIC FAILURE #3</a:t>
            </a:r>
          </a:p>
          <a:p>
            <a:pPr>
              <a:spcBef>
                <a:spcPts val="800"/>
              </a:spcBef>
              <a:defRPr sz="1800" b="1">
                <a:solidFill>
                  <a:srgbClr val="FFFFFF"/>
                </a:solidFill>
                <a:latin typeface="Georgia"/>
              </a:defRPr>
            </a:pPr>
            <a:r>
              <a:t>"Ghost Closures" &amp; Zero Trust</a:t>
            </a:r>
          </a:p>
          <a:p>
            <a:pPr>
              <a:spcBef>
                <a:spcPts val="1200"/>
              </a:spcBef>
              <a:defRPr sz="1300">
                <a:solidFill>
                  <a:srgbClr val="9CA3AF"/>
                </a:solidFill>
              </a:defRPr>
            </a:pPr>
            <a:r>
              <a:t>Contractors routinely mark tickets "Resolved" without submitting photographic proof. Citizens return to find the defect untouched, leading to cynicism, distrust, and repeated re-filing.</a:t>
            </a:r>
          </a:p>
          <a:p>
            <a:pPr>
              <a:spcBef>
                <a:spcPts val="1600"/>
              </a:spcBef>
              <a:defRPr sz="1200" b="1">
                <a:solidFill>
                  <a:srgbClr val="FBBF24"/>
                </a:solidFill>
              </a:defRPr>
            </a:pPr>
            <a:r>
              <a:t>Result: Total breakdown of citizen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THE CIVICAI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An Autonomous Action Engine That Bridges Citizens and Authorities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Converts public grievances into department-ready actions and tracks them until verified resolution.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725912" cy="10972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THE BEACON CLOSED-LOOP ARCHITECTURE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Citizen Report (Photo + Voice)  ➜  Computer Vision Triage  ➜  Spatial Deduplication (110m)  ➜  Priority Dispatch  ➜  Before/After AI Audit  ➜  Citizen Confirmation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3756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1. MULTIMODAL INTAKE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  <a:latin typeface="Georgia"/>
              </a:defRPr>
            </a:pPr>
            <a:r>
              <a:t>Zero-Friction Reporting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Instant GPS Geolocation auto-detection</a:t>
            </a:r>
            <a:br/>
            <a:r>
              <a:t>• Drag-and-drop defect photo &amp; video upload</a:t>
            </a:r>
            <a:br/>
            <a:r>
              <a:t>• Real-time speech-to-text voice complaints</a:t>
            </a:r>
            <a:br/>
            <a:r>
              <a:t>• 1-Click presets for instant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3291840"/>
            <a:ext cx="333756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2. AI PRIORITY ENGINE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  <a:latin typeface="Georgia"/>
              </a:defRPr>
            </a:pPr>
            <a:r>
              <a:t>Intelligent Risk Triage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Computer vision defect classification</a:t>
            </a:r>
            <a:br/>
            <a:r>
              <a:t>• Automated spatial duplicate clustering (110m)</a:t>
            </a:r>
            <a:br/>
            <a:r>
              <a:t>• Mathematical urgency scoring formula</a:t>
            </a:r>
            <a:br/>
            <a:r>
              <a:t>• Auto-routing to BBMP / BWSSB / BESCOM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3291840"/>
            <a:ext cx="333756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3566160"/>
            <a:ext cx="2880360" cy="2468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3. VERIFIED RESOLUTION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  <a:latin typeface="Georgia"/>
              </a:defRPr>
            </a:pPr>
            <a:r>
              <a:t>Zero Ghost Closures</a:t>
            </a:r>
          </a:p>
          <a:p>
            <a:pPr>
              <a:spcBef>
                <a:spcPts val="800"/>
              </a:spcBef>
              <a:defRPr sz="1200">
                <a:solidFill>
                  <a:srgbClr val="9CA3AF"/>
                </a:solidFill>
              </a:defRPr>
            </a:pPr>
            <a:r>
              <a:t>• Authority uploads "After Repair" photo</a:t>
            </a:r>
            <a:br/>
            <a:r>
              <a:t>• AI Before vs After surface comparison</a:t>
            </a:r>
            <a:br/>
            <a:r>
              <a:t>• 98.4% defect clearance verification</a:t>
            </a:r>
            <a:br/>
            <a:r>
              <a:t>• Citizen final veto (Confirm or Re-escalate)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SCREEN BREAKDOWN: INTAKE &amp; VISION HUD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From Citizen Upload to Real-Time Neural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Screens 1 &amp; 2 demonstrate seamless photo submission and instant computer vision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SCREEN 1 // CITIZEN PORTAL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Citizen Issue Reporting</a:t>
            </a:r>
          </a:p>
          <a:p>
            <a:pPr>
              <a:spcBef>
                <a:spcPts val="1000"/>
              </a:spcBef>
              <a:defRPr sz="1200">
                <a:solidFill>
                  <a:srgbClr val="E5E7EB"/>
                </a:solidFill>
              </a:defRPr>
            </a:pPr>
            <a:r>
              <a:t>📍 Detect/Select Location: Auto GPS resolves to 'Electronic City Phase 1, Near Infosys Gate 3, Bengaluru' (12.8452° N, 77.6602° E)</a:t>
            </a:r>
            <a:br/>
            <a:br/>
            <a:r>
              <a:t>📸 Photo / Video Upload: Drag-and-drop file uploader with live preview and 4 one-click hackathon presets (Pothole, Manhole, Garbage, Streetlight)</a:t>
            </a:r>
            <a:br/>
            <a:br/>
            <a:r>
              <a:t>🎙️ Voice Complaint: Web Speech API transcribes spoken citizen complaints with live audio frequency wave animation</a:t>
            </a:r>
            <a:br/>
            <a:br/>
            <a:r>
              <a:t>✍️ Describe Issue: Contextual problem description with smart prompts</a:t>
            </a:r>
            <a:br/>
            <a:br/>
            <a:r>
              <a:t>🚀 Action: 'AI Analyze &amp; Report Issue' button triggers inference HUD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SCREEN 2 // AI ANALYSIS HUD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Neural Computer Vision Scanner</a:t>
            </a:r>
          </a:p>
          <a:p>
            <a:pPr>
              <a:spcBef>
                <a:spcPts val="1000"/>
              </a:spcBef>
              <a:defRPr sz="1200">
                <a:solidFill>
                  <a:srgbClr val="E5E7EB"/>
                </a:solidFill>
              </a:defRPr>
            </a:pPr>
            <a:r>
              <a:t>🔍 AI Detected: Road Pothole (Confidence: 96.4%)</a:t>
            </a:r>
            <a:br/>
            <a:r>
              <a:t>⚠️ Severity: High (88/100, Depth: ~12cm)</a:t>
            </a:r>
            <a:br/>
            <a:r>
              <a:t>📍 Location: Electronic City Phase 1 (Arterial Corridor)</a:t>
            </a:r>
            <a:br/>
            <a:r>
              <a:t>🚗 Potential Impact: Traffic &amp; vehicle safety (high accident hazard)</a:t>
            </a:r>
            <a:br/>
            <a:r>
              <a:t>🔄 Duplicate Reports: 3 nearby within 110m radius</a:t>
            </a:r>
            <a:br/>
            <a:r>
              <a:t>🏢 Assigned Department: Municipal Roads (BBMP Works)</a:t>
            </a:r>
            <a:br/>
            <a:r>
              <a:t>⏱️ Inference Latency: 142ms</a:t>
            </a:r>
            <a:br/>
            <a:br/>
            <a:r>
              <a:t>Then: Citizen clicks 'Submit Complaint' ➜ System generates Ticket #CA1024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SCREEN BREAKDOWN: OPERATIONS &amp;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Live Citizen Stepper &amp; Tactical City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Screens 3 &amp; 4 provide complete visibility for citizens and military-grade coordination for municipal officials.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SCREEN 3 // LIVE TRACKING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Complaint #CA1024 Live Tracker</a:t>
            </a:r>
          </a:p>
          <a:p>
            <a:pPr>
              <a:spcBef>
                <a:spcPts val="1000"/>
              </a:spcBef>
              <a:defRPr sz="1200">
                <a:solidFill>
                  <a:srgbClr val="E5E7EB"/>
                </a:solidFill>
              </a:defRPr>
            </a:pPr>
            <a:r>
              <a:t>✓  Report Submitted (09:14 AM — Citizen photo &amp; voice logged)</a:t>
            </a:r>
            <a:br/>
            <a:br/>
            <a:r>
              <a:t>✓  AI Verified (09:15 AM — Vision classified defect, duplicates linked)</a:t>
            </a:r>
            <a:br/>
            <a:br/>
            <a:r>
              <a:t>✓  Department Assigned (09:18 AM — Municipal Roads BBMP Works)</a:t>
            </a:r>
            <a:br/>
            <a:br/>
            <a:r>
              <a:t>●  Action Pending / In Progress (Crew: Rapid Road Repair Unit #14)</a:t>
            </a:r>
            <a:br/>
            <a:br/>
            <a:r>
              <a:t>○  Resolved (Awaiting Before/After AI photo verification)</a:t>
            </a:r>
            <a:br/>
            <a:br/>
            <a:r>
              <a:t>SLA Countdown: 18h 42m remaining on guaranteed 24h repair window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SCREEN 4 // GOVERNMENT DASHBOARD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City Command Center &amp; Tactical Map</a:t>
            </a:r>
          </a:p>
          <a:p>
            <a:pPr>
              <a:spcBef>
                <a:spcPts val="800"/>
              </a:spcBef>
              <a:defRPr sz="1100">
                <a:solidFill>
                  <a:srgbClr val="E5E7EB"/>
                </a:solidFill>
              </a:defRPr>
            </a:pPr>
            <a:r>
              <a:t>Big Municipal KPI Counters:</a:t>
            </a:r>
            <a:br/>
            <a:r>
              <a:t>• TOTAL ISSUES: 1,284</a:t>
            </a:r>
            <a:br/>
            <a:r>
              <a:t>• AI VERIFIED: 936 (72.8% automated triage rate)</a:t>
            </a:r>
            <a:br/>
            <a:r>
              <a:t>• HIGH PRIORITY: 142 (Urgent response SLA &lt; 24h)</a:t>
            </a:r>
            <a:br/>
            <a:r>
              <a:t>• RESOLVED: 817 (Verified closed)</a:t>
            </a:r>
            <a:br/>
            <a:br/>
            <a:r>
              <a:t>Interactive Tactical City Map:</a:t>
            </a:r>
            <a:br/>
            <a:r>
              <a:t>🔴 Critical (Pulsing radar ring, e.g. Open Manhole #CA1019)</a:t>
            </a:r>
            <a:br/>
            <a:r>
              <a:t>🟠 High (e.g. Road Pothole #CA1024)</a:t>
            </a:r>
            <a:br/>
            <a:r>
              <a:t>🟡 Medium (e.g. Streetlight #CA1012)</a:t>
            </a:r>
            <a:br/>
            <a:r>
              <a:t>🟢 Resolved (e.g. Garbage Dump #CA1015)</a:t>
            </a:r>
            <a:br/>
            <a:br/>
            <a:r>
              <a:t>Clicking any pin opens Inspector Drawer with full AI diagnostics!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SCREEN 5: AI PRIORITY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Dynamic Mathematical Triage: What Gets Fixed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Instead of authorities drowning in hundreds of complaints, the system calculates priority mathematically.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725912" cy="128016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PRIORITY ENGINE FORMULA // DYNAMIC RISK SCORING MODEL</a:t>
            </a:r>
          </a:p>
          <a:p>
            <a:pPr>
              <a:spcBef>
                <a:spcPts val="600"/>
              </a:spcBef>
              <a:defRPr sz="1700" b="1">
                <a:solidFill>
                  <a:srgbClr val="FFFFFF"/>
                </a:solidFill>
              </a:defRPr>
            </a:pPr>
            <a:r>
              <a:t>Priority Score = (Severity × 35%) + (Duplicates × 25%) + (Location Importance × 20%) + (Public Impact × 20%)</a:t>
            </a:r>
          </a:p>
          <a:p>
            <a:pPr>
              <a:spcBef>
                <a:spcPts val="400"/>
              </a:spcBef>
              <a:defRPr sz="1100">
                <a:solidFill>
                  <a:srgbClr val="9CA3AF"/>
                </a:solidFill>
              </a:defRPr>
            </a:pPr>
            <a:r>
              <a:t>Calculates mathematical urgency so emergency crews dispatch to critical arterial hazards before cosmetic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251460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1. SEVERITY (35%)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Physical Defect Scale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Evaluates depth, perimeter breach, road base erosion, and collapse risk. A 12cm crater scores 88/100, while hairline surface cracks score 20/100.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3337560"/>
            <a:ext cx="251460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2. DUPLICATES (25%)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Spatial Clustering (110m)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Automatically aggregates redundant citizen photos within 110m. Rather than 5 duplicate tickets, it increases the urgency multiplier of the primary ticket.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3337560"/>
            <a:ext cx="251460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3. LOCATION (20%)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Corridor Significance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Correlates coordinates with city transit data. Arterial roads, Metro pillars, tech park corridors, and school zones receive elevated priority weight.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3337560"/>
            <a:ext cx="2514600" cy="30175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8" y="3566160"/>
            <a:ext cx="2148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4. IMPACT (20%)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Commuter &amp; Life Safety</a:t>
            </a:r>
          </a:p>
          <a:p>
            <a:pPr>
              <a:spcBef>
                <a:spcPts val="800"/>
              </a:spcBef>
              <a:defRPr sz="1100">
                <a:solidFill>
                  <a:srgbClr val="9CA3AF"/>
                </a:solidFill>
              </a:defRPr>
            </a:pPr>
            <a:r>
              <a:t>Quantifies potential harm: two-wheeler skidding risk, peak-hour traffic bottleneck multiplier, and night blind spots.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SCREEN 6: RESOLUTION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Closed-Loop Accountability: Before vs After Quality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Authority uploads an "after repair" photo. AI verifies physical restoration. Citizen has final confirmation veto.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COMPUTER VISION AUDIT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Before ➔ After Visual Comparison</a:t>
            </a:r>
          </a:p>
          <a:p>
            <a:pPr>
              <a:spcBef>
                <a:spcPts val="1000"/>
              </a:spcBef>
              <a:defRPr sz="1200">
                <a:solidFill>
                  <a:srgbClr val="E5E7EB"/>
                </a:solidFill>
              </a:defRPr>
            </a:pPr>
            <a:r>
              <a:t>1. Authority Action:</a:t>
            </a:r>
            <a:br/>
            <a:r>
              <a:t>Contractor/crew uploads 'After Repair' photo upon field completion.</a:t>
            </a:r>
            <a:br/>
            <a:br/>
            <a:r>
              <a:t>2. Interactive Split Slider:</a:t>
            </a:r>
            <a:br/>
            <a:r>
              <a:t>Judges and citizens can drag an interactive Before/After comparison slider to inspect the restored asphalt surface.</a:t>
            </a:r>
            <a:br/>
            <a:br/>
            <a:r>
              <a:t>3. AI Surface Verification:</a:t>
            </a:r>
            <a:br/>
            <a:r>
              <a:t>• Surface Leveling Delta: 0.2cm (PASSED)</a:t>
            </a:r>
            <a:br/>
            <a:r>
              <a:t>• Defect Clearance Score: 98.4%</a:t>
            </a:r>
            <a:br/>
            <a:r>
              <a:t>• Defect Area Leveled with dense bituminous hot-mix</a:t>
            </a:r>
            <a:br/>
            <a:br/>
            <a:r>
              <a:t>AI Verdict: ✅ Issue appears 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93792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03120"/>
            <a:ext cx="464515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CITIZEN GOVERNANCE SIGN-OFF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Georgia"/>
              </a:defRPr>
            </a:pPr>
            <a:r>
              <a:t>Citizen Confirmation &amp; Ticket Closure</a:t>
            </a:r>
          </a:p>
          <a:p>
            <a:pPr>
              <a:spcBef>
                <a:spcPts val="1000"/>
              </a:spcBef>
              <a:defRPr sz="1200">
                <a:solidFill>
                  <a:srgbClr val="E5E7EB"/>
                </a:solidFill>
              </a:defRPr>
            </a:pPr>
            <a:r>
              <a:t>The reporting citizen receives an SMS/web alert with Before &amp; After evidence and holds final authority:</a:t>
            </a:r>
            <a:br/>
            <a:br/>
            <a:r>
              <a:t>👍  Resolved:</a:t>
            </a:r>
            <a:br/>
            <a:r>
              <a:t>Citizen confirms satisfactory site closure.</a:t>
            </a:r>
            <a:br/>
            <a:r>
              <a:t>• Triggers celebration confetti</a:t>
            </a:r>
            <a:br/>
            <a:r>
              <a:t>• Increments city Resolved counter (817 ➔ 818)</a:t>
            </a:r>
            <a:br/>
            <a:r>
              <a:t>• Formally closes Ticket #CA1024</a:t>
            </a:r>
            <a:br/>
            <a:br/>
            <a:r>
              <a:t>❌  Still not fixed:</a:t>
            </a:r>
            <a:br/>
            <a:r>
              <a:t>Citizen flags that defect persists or repair was sub-standard.</a:t>
            </a:r>
            <a:br/>
            <a:r>
              <a:t>• Immediately reopens ticket to 'In Progress'</a:t>
            </a:r>
            <a:br/>
            <a:r>
              <a:t>• Applies high-urgency penalty to department SLA</a:t>
            </a:r>
            <a:br/>
            <a:r>
              <a:t>• Eliminates contractor 'ghost closures' permanently!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HACKATHON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The 60-Second End-to-End Presentation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A complete, connected demonstration proving real functionality instead of a static mockup.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Upload Photo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Citizen captures road crater at Electronic City Gate 3 with voice note.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AI Detects Defect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Vision model identifies "Road Pothole" with 96.4% confidence &amp; bounding box.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Calculates Severity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High severity (88/100) computed based on depth and vehicular hazard.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05740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Clusters Duplicates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Detects 3 existing reports within 110m; auto-merges to prevent spam.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Assigns Department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Auto-routes to Municipal Roads with guaranteed 24-hour SLA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5576" y="416052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8456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6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Appears on Live Map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Pulsing red/orange tactical pin appears on City Admin command center.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416052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7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Admin Dispatches Crew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Admin changes status to In Progress; crew uploads repair photo.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8" y="416052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4297680"/>
            <a:ext cx="2148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STEP 8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  <a:latin typeface="Georgia"/>
              </a:defRPr>
            </a:pPr>
            <a:r>
              <a:t>AI Verifies &amp; Citizen Confirms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AI verifies 98.4% clearance; citizen clicks "👍 Resolved" to close ticket.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Production-Ready Stack Built for Resilience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Engineered with offline failover, cross-screen synchronization, and high-performance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FRONTEND CLIENT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React 18 + Vite + Tailwind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Lightning-fast Vite dev &amp; production build</a:t>
            </a:r>
            <a:br/>
            <a:br/>
            <a:r>
              <a:t>• Scrolltide Beacon amber palette styling</a:t>
            </a:r>
            <a:br/>
            <a:br/>
            <a:r>
              <a:t>• Web Speech API voice speech-to-text</a:t>
            </a:r>
            <a:br/>
            <a:br/>
            <a:r>
              <a:t>• Web Audio API soundwave frequency synth</a:t>
            </a:r>
            <a:br/>
            <a:br/>
            <a:r>
              <a:t>• Lucide modern SVG iconography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GEOSPATIAL &amp; GIS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Leaflet + CartoDB Dark GIS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Tactical dark tile rendering (CartoDB)</a:t>
            </a:r>
            <a:br/>
            <a:br/>
            <a:r>
              <a:t>• Radar pulse animations for Critical hazards</a:t>
            </a:r>
            <a:br/>
            <a:br/>
            <a:r>
              <a:t>• 110m spatial clustering radius</a:t>
            </a:r>
            <a:br/>
            <a:br/>
            <a:r>
              <a:t>• Geolocation reverse geocoding</a:t>
            </a:r>
            <a:br/>
            <a:br/>
            <a:r>
              <a:t>• Interactive click-to-inspect drawer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BACKEND INFERENCE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Python FastAPI + Computer Vision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High-performance async REST API</a:t>
            </a:r>
            <a:br/>
            <a:br/>
            <a:r>
              <a:t>• Image defect classification pipeline</a:t>
            </a:r>
            <a:br/>
            <a:br/>
            <a:r>
              <a:t>• Before/After surface clearance analysis</a:t>
            </a:r>
            <a:br/>
            <a:br/>
            <a:r>
              <a:t>• Zero-dependency fallback HTTP server</a:t>
            </a:r>
            <a:br/>
            <a:br/>
            <a:r>
              <a:t>• Conversational CivicBot Assistant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4389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48840"/>
            <a:ext cx="2148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EF3C7"/>
                </a:solidFill>
              </a:defRPr>
            </a:pPr>
            <a:r>
              <a:t>REAL-TIME SYNC</a:t>
            </a:r>
          </a:p>
          <a:p>
            <a:pPr>
              <a:spcBef>
                <a:spcPts val="600"/>
              </a:spcBef>
              <a:defRPr sz="1500" b="1">
                <a:solidFill>
                  <a:srgbClr val="FFFFFF"/>
                </a:solidFill>
                <a:latin typeface="Georgia"/>
              </a:defRPr>
            </a:pPr>
            <a:r>
              <a:t>BroadcastChannel + LocalStorage</a:t>
            </a:r>
          </a:p>
          <a:p>
            <a:pPr>
              <a:spcBef>
                <a:spcPts val="1200"/>
              </a:spcBef>
              <a:defRPr sz="1100">
                <a:solidFill>
                  <a:srgbClr val="9CA3AF"/>
                </a:solidFill>
              </a:defRPr>
            </a:pPr>
            <a:r>
              <a:t>• Dual-Screen presentation support</a:t>
            </a:r>
            <a:br/>
            <a:br/>
            <a:r>
              <a:t>• Citizen phone tab syncs with Admin laptop</a:t>
            </a:r>
            <a:br/>
            <a:br/>
            <a:r>
              <a:t>• Zero lag state broadcast across tabs</a:t>
            </a:r>
            <a:br/>
            <a:br/>
            <a:r>
              <a:t>• Canvas Confetti celebration feedback</a:t>
            </a:r>
            <a:br/>
            <a:br/>
            <a:r>
              <a:t>• 100% offline hackathon presentation mode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CIVIC IMPACT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Measurable Municipal Transformation &amp;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9CA3AF"/>
                </a:solidFill>
                <a:latin typeface="Segoe UI"/>
              </a:defRPr>
            </a:pPr>
            <a:r>
              <a:t>CivicAI turns public grievances from a municipal liability into measurable civic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68%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Faster Dispatch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Direct automated routing eliminates manual call-center sorting bottlenecks.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BBF24"/>
                </a:solidFill>
              </a:defRPr>
            </a:pPr>
            <a:r>
              <a:t>92%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Spam Reduction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Nearby duplicates within 110m are merged into single high-urgency clusters.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59E0B"/>
                </a:solidFill>
              </a:defRPr>
            </a:pPr>
            <a:r>
              <a:t>0%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Ghost Closures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Guaranteed by mandatory Before/After AI image verification and citizen sign-off.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33688" y="1920240"/>
            <a:ext cx="2514600" cy="201168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2D28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21031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BBF24"/>
                </a:solidFill>
              </a:defRPr>
            </a:pPr>
            <a:r>
              <a:t>24h</a:t>
            </a:r>
          </a:p>
          <a:p>
            <a:pPr>
              <a:spcBef>
                <a:spcPts val="400"/>
              </a:spcBef>
              <a:defRPr sz="1400" b="1">
                <a:solidFill>
                  <a:srgbClr val="FFFFFF"/>
                </a:solidFill>
                <a:latin typeface="Georgia"/>
              </a:defRPr>
            </a:pPr>
            <a:r>
              <a:t>Strict SLA Adherence</a:t>
            </a:r>
          </a:p>
          <a:p>
            <a:pPr>
              <a:spcBef>
                <a:spcPts val="400"/>
              </a:spcBef>
              <a:defRPr sz="1000">
                <a:solidFill>
                  <a:srgbClr val="9CA3AF"/>
                </a:solidFill>
              </a:defRPr>
            </a:pPr>
            <a:r>
              <a:t>Real-time countdown timer creates accountability for department field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10725912" cy="2103120"/>
          </a:xfrm>
          <a:prstGeom prst="roundRect">
            <a:avLst/>
          </a:prstGeom>
          <a:solidFill>
            <a:srgbClr val="0E101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434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PILOT DEPLOYMENT &amp; FUTURE ROADMAP // BBMP SMART CITY EXPANSION</a:t>
            </a:r>
          </a:p>
          <a:p>
            <a:pPr>
              <a:spcBef>
                <a:spcPts val="400"/>
              </a:spcBef>
              <a:defRPr sz="1700" b="1">
                <a:solidFill>
                  <a:srgbClr val="FFFFFF"/>
                </a:solidFill>
                <a:latin typeface="Georgia"/>
              </a:defRPr>
            </a:pPr>
            <a:r>
              <a:t>From Bangalore Pilot to Nationwide Municipal Standard</a:t>
            </a:r>
          </a:p>
          <a:p>
            <a:pPr>
              <a:spcBef>
                <a:spcPts val="600"/>
              </a:spcBef>
              <a:defRPr sz="1100">
                <a:solidFill>
                  <a:srgbClr val="E5E7EB"/>
                </a:solidFill>
              </a:defRPr>
            </a:pPr>
            <a:r>
              <a:t>• Phase 1 (Current Prototype): Electronic City &amp; Indiranagar pilot covering Road Potholes, Manholes, Waste, and Streetlights.</a:t>
            </a:r>
            <a:br/>
            <a:r>
              <a:t>• Phase 2 (IoT &amp; Dashcam Integration): Integration with municipal bus cameras for automated passive road defect scanning.</a:t>
            </a:r>
            <a:br/>
            <a:r>
              <a:t>• Phase 3 (Predictive Maintenance): Machine learning predicting road degradation before severe pothole cratering occurs.</a:t>
            </a:r>
            <a:br/>
            <a:r>
              <a:t>• Phase 4 (Open Civic API): Integration with WhatsApp for 1-click citizen reporting without app download requirements.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