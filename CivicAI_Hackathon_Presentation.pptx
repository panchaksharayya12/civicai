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7498079" cy="502920"/>
          </a:xfrm>
          <a:prstGeom prst="rect">
            <a:avLst/>
          </a:prstGeom>
          <a:solidFill>
            <a:srgbClr val="1A183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06B6D4"/>
                </a:solidFill>
              </a:rPr>
              <a:t>   TRACK 1 — AI FOR DIGITAL PUBLIC INFRASTRUCTURE &amp;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0" y="731520"/>
            <a:ext cx="3017520" cy="502920"/>
          </a:xfrm>
          <a:prstGeom prst="rect">
            <a:avLst/>
          </a:prstGeom>
          <a:solidFill>
            <a:srgbClr val="13122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C4899"/>
                </a:solidFill>
              </a:rPr>
              <a:t>BENGALURU SMART CITY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>
                <a:solidFill>
                  <a:srgbClr val="FFFFFF"/>
                </a:solidFill>
              </a:rPr>
              <a:t>CivicAI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6B6D4"/>
                </a:solidFill>
              </a:rPr>
              <a:t>Smart Public Issue Resolution</a:t>
            </a:r>
          </a:p>
          <a:p>
            <a:r>
              <a:rPr sz="1400">
                <a:solidFill>
                  <a:srgbClr val="94A3B8"/>
                </a:solidFill>
              </a:rPr>
              <a:t>Next-Generation Digital Public Infrastructure for Real-Time Defect Detection, Dynamic Triage &amp; Verifiable Public Proof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54864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5120640" cy="2011680"/>
          </a:xfrm>
          <a:prstGeom prst="rect">
            <a:avLst/>
          </a:prstGeom>
          <a:solidFill>
            <a:srgbClr val="1312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51206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51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6B6D4"/>
                </a:solidFill>
              </a:rPr>
              <a:t>CORE PROJECT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177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Panchaksharayya</a:t>
            </a:r>
          </a:p>
          <a:p>
            <a:r>
              <a:rPr sz="1100">
                <a:solidFill>
                  <a:srgbClr val="94A3B8"/>
                </a:solidFill>
              </a:rPr>
              <a:t>Full-Stack Architecture &amp; AI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Rashmi</a:t>
            </a:r>
          </a:p>
          <a:p>
            <a:r>
              <a:rPr sz="1100">
                <a:solidFill>
                  <a:srgbClr val="94A3B8"/>
                </a:solidFill>
              </a:rPr>
              <a:t>UI/UX Systems &amp; Civic Experience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212080" cy="2011680"/>
          </a:xfrm>
          <a:prstGeom prst="rect">
            <a:avLst/>
          </a:prstGeom>
          <a:solidFill>
            <a:srgbClr val="13122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52120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51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5CF6"/>
                </a:solidFill>
              </a:rPr>
              <a:t>KEY VALUE PROPOSITIONS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736592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4663440"/>
            <a:ext cx="4590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Computer Vision Telemetry: Instant Defect Classification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5193792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5120640"/>
            <a:ext cx="4590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Autonomous Priority Engine: Multi-Factor Weighted Triage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5650992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5577840"/>
            <a:ext cx="4590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Transparent Verification: Before &amp; After Photo Proof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4114800" cy="329184"/>
          </a:xfrm>
          <a:prstGeom prst="rect">
            <a:avLst/>
          </a:prstGeom>
          <a:solidFill>
            <a:srgbClr val="1A18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6B6D4"/>
                </a:solidFill>
              </a:rPr>
              <a:t>DIGITAL PUBLIC INFRASTRUCTURE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The Shift to Autonomous Civic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698480" cy="18288"/>
          </a:xfrm>
          <a:prstGeom prst="rect">
            <a:avLst/>
          </a:prstGeom>
          <a:solidFill>
            <a:srgbClr val="28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201168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383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6B6D4"/>
                </a:solidFill>
              </a:rPr>
              <a:t>01 / EDGE 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Automating Urban Sensing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30175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Public infrastructure reporting is transitioning from slow, text-heavy manual hotlines to instantaneous Computer Vision scanning right from citizen devices with real-time HUD telemetry.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338328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33832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5CF6"/>
                </a:solidFill>
              </a:rPr>
              <a:t>02 / DATA-DRIVEN DPI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1460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Dynamic Algorithmic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91840"/>
            <a:ext cx="30175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Cities can no longer operate on first-come-first-serve queues. Future governance relies on intelligent priority engines balancing defect severity, recurrence duplicates, and public impact.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920240"/>
            <a:ext cx="338328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920240"/>
            <a:ext cx="33832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03 / PROOF-BASED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51460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Verifiable Photographic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91840"/>
            <a:ext cx="30175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Closing the public trust deficit through mandatory Before &amp; After visual verification, AI clearance metrics, and decentralized citizen sign-off before municipal funds are disbursed.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4114800" cy="329184"/>
          </a:xfrm>
          <a:prstGeom prst="rect">
            <a:avLst/>
          </a:prstGeom>
          <a:solidFill>
            <a:srgbClr val="1A183C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C4899"/>
                </a:solidFill>
              </a:rPr>
              <a:t>URBAN INFRASTRUCTURE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Why Modern Cities Fail to Resolve Defects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698480" cy="18288"/>
          </a:xfrm>
          <a:prstGeom prst="rect">
            <a:avLst/>
          </a:prstGeom>
          <a:solidFill>
            <a:srgbClr val="28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2011680" cy="2743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621792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62179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C4899"/>
                </a:solidFill>
              </a:rPr>
              <a:t>THE RECTIFICATION BOTTLENECK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679192"/>
            <a:ext cx="731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606040"/>
            <a:ext cx="55046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Unreported Road Hazards: Potholes remain unaddressed for months, escalating from minor cracks into hazardous road craters causing lethal accidents.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547872"/>
            <a:ext cx="731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474720"/>
            <a:ext cx="55046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Garbage Accumulation: Overflowing waste dumping points lack continuous monitoring and SLA accountability, creating public health crises.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4416552"/>
            <a:ext cx="731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343400"/>
            <a:ext cx="55046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Opaque Municipal Routing: Citizen complaints disappear into bureaucratic departmental silos with zero visibility into inspection or repair schedules.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5285232"/>
            <a:ext cx="731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212080"/>
            <a:ext cx="55046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Ghost Resolutions: Contractors close work orders on paper without photographic proof of work completed, eroding citizen trust.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920240"/>
            <a:ext cx="4114800" cy="960120"/>
          </a:xfrm>
          <a:prstGeom prst="rect">
            <a:avLst/>
          </a:prstGeom>
          <a:solidFill>
            <a:srgbClr val="13122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920240"/>
            <a:ext cx="73152" cy="960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1993392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C4899"/>
                </a:solidFill>
              </a:rPr>
              <a:t>₹14,300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359152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2E8F0"/>
                </a:solidFill>
              </a:rPr>
              <a:t>Annual economic waste from unresolved road &amp; infrastructure damages in metros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017520"/>
            <a:ext cx="4114800" cy="960120"/>
          </a:xfrm>
          <a:prstGeom prst="rect">
            <a:avLst/>
          </a:prstGeom>
          <a:solidFill>
            <a:srgbClr val="13122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01752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3090672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9E0B"/>
                </a:solidFill>
              </a:rPr>
              <a:t>30+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456432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2E8F0"/>
                </a:solidFill>
              </a:rPr>
              <a:t>Average legacy complaint turnaround time in municipal portals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4114800"/>
            <a:ext cx="4114800" cy="960120"/>
          </a:xfrm>
          <a:prstGeom prst="rect">
            <a:avLst/>
          </a:prstGeom>
          <a:solidFill>
            <a:srgbClr val="13122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0" y="4114800"/>
            <a:ext cx="73152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4187952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6B6D4"/>
                </a:solidFill>
              </a:rPr>
              <a:t>73%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553712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2E8F0"/>
                </a:solidFill>
              </a:rPr>
              <a:t>Of complaints closed without citizen verification or photo proof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5212079"/>
            <a:ext cx="4114800" cy="960120"/>
          </a:xfrm>
          <a:prstGeom prst="rect">
            <a:avLst/>
          </a:prstGeom>
          <a:solidFill>
            <a:srgbClr val="1312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0" y="5212079"/>
            <a:ext cx="73152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5285231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B5CF6"/>
                </a:solidFill>
              </a:rPr>
              <a:t>12M+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650991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2E8F0"/>
                </a:solidFill>
              </a:rPr>
              <a:t>Bengaluru citizens impacted daily by municipal infrastructure delays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4114800" cy="329184"/>
          </a:xfrm>
          <a:prstGeom prst="rect">
            <a:avLst/>
          </a:prstGeom>
          <a:solidFill>
            <a:srgbClr val="1A18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6B6D4"/>
                </a:solidFill>
              </a:rPr>
              <a:t>THE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CivicAI: End-to-End Smart Governance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698480" cy="18288"/>
          </a:xfrm>
          <a:prstGeom prst="rect">
            <a:avLst/>
          </a:prstGeom>
          <a:solidFill>
            <a:srgbClr val="28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201168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51460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2514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6B6D4"/>
                </a:solidFill>
              </a:rPr>
              <a:t>VISION AI SCANNER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2240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Instant Defect 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2240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Citizens snap or upload photos. Real-time neural inference detects issue category (pothole, garbage, streetlight, waterlogging), calculates severity rating, and overlays a futuristic visor HUD.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920240"/>
            <a:ext cx="251460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920240"/>
            <a:ext cx="25146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10312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B5CF6"/>
                </a:solidFill>
              </a:rPr>
              <a:t>PRIORITY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468880"/>
            <a:ext cx="2240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Algorithmic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246120"/>
            <a:ext cx="2240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Multi-weighted triage score computes importance based on severity (35%), duplicate cluster count (25%), location density (20%), and public impact (20%) to route critical issues first.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251460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2514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0312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DUAL-PANEL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68880"/>
            <a:ext cx="2240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Command &amp; Control Center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246120"/>
            <a:ext cx="2240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Municipal officers access two specialized portals: a real-time Complaints Data Queue with Before/After review and an Interactive Geospatial Map (Leaflet) covering 35+ Bengaluru zones.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920240"/>
            <a:ext cx="251460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920240"/>
            <a:ext cx="2514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10312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VERIFIABLE 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468880"/>
            <a:ext cx="2240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Before &amp; After Assurance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246120"/>
            <a:ext cx="2240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Resolution requires mandatory After photo evidence. The system computes a clearance score (85–100%) and empowers citizens with a 1-tap confirmation audit before closing the ticket.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4114800" cy="329184"/>
          </a:xfrm>
          <a:prstGeom prst="rect">
            <a:avLst/>
          </a:prstGeom>
          <a:solidFill>
            <a:srgbClr val="1A183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8B5CF6"/>
                </a:solidFill>
              </a:rPr>
              <a:t>TECHNOLOGICAL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Pioneering Capabilities Built into CivicAI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698480" cy="18288"/>
          </a:xfrm>
          <a:prstGeom prst="rect">
            <a:avLst/>
          </a:prstGeom>
          <a:solidFill>
            <a:srgbClr val="28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201168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120640" cy="1234440"/>
          </a:xfrm>
          <a:prstGeom prst="rect">
            <a:avLst/>
          </a:prstGeom>
          <a:solidFill>
            <a:srgbClr val="13122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4864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6B6D4"/>
                </a:solidFill>
              </a:rPr>
              <a:t>Futuristic Visor HUD 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Live scanning overlay showing bounding coordinates, defect classification, confidence telemetry, and real-time defect severity diagnostics.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120640" cy="1234440"/>
          </a:xfrm>
          <a:prstGeom prst="rect">
            <a:avLst/>
          </a:prstGeom>
          <a:solidFill>
            <a:srgbClr val="1312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4864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B5CF6"/>
                </a:solidFill>
              </a:rPr>
              <a:t>Whole-City Geospatial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Intelligent location engine with 35+ pre-mapped Bengaluru ward zones, GPS radius geocoding, and instant location suggestions.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37560"/>
            <a:ext cx="5120640" cy="1234440"/>
          </a:xfrm>
          <a:prstGeom prst="rect">
            <a:avLst/>
          </a:prstGeom>
          <a:solidFill>
            <a:srgbClr val="13122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37560"/>
            <a:ext cx="54864" cy="1234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C4899"/>
                </a:solidFill>
              </a:rPr>
              <a:t>CivicBot Autonomous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4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Context-aware AI conversational guide assisting citizens in drafting reports, checking ticket status, and finding emergency services.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337560"/>
            <a:ext cx="5120640" cy="1234440"/>
          </a:xfrm>
          <a:prstGeom prst="rect">
            <a:avLst/>
          </a:prstGeom>
          <a:solidFill>
            <a:srgbClr val="13122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33756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4290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9E0B"/>
                </a:solidFill>
              </a:rPr>
              <a:t>Role-Based Municipal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4904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Granular three-tier access control: Citizen reporter, Field Inspection Officer, and BBMP Administrative Commander.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5120640" cy="1234440"/>
          </a:xfrm>
          <a:prstGeom prst="rect">
            <a:avLst/>
          </a:prstGeom>
          <a:solidFill>
            <a:srgbClr val="13122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754880"/>
            <a:ext cx="54864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B981"/>
                </a:solidFill>
              </a:rPr>
              <a:t>Guided Pitch Demonstration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Interactive guided tour with preset scenarios (pothole, garbage, streetlight) for automated hackathon demonstration.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754880"/>
            <a:ext cx="5120640" cy="1234440"/>
          </a:xfrm>
          <a:prstGeom prst="rect">
            <a:avLst/>
          </a:prstGeom>
          <a:solidFill>
            <a:srgbClr val="1312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754880"/>
            <a:ext cx="54864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8463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Offline-First PWA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16636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Local asset fallbacks and cached storage ensuring seamless operation even in low-bandwidth municipal field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4114800" cy="329184"/>
          </a:xfrm>
          <a:prstGeom prst="rect">
            <a:avLst/>
          </a:prstGeom>
          <a:solidFill>
            <a:srgbClr val="1A18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59E0B"/>
                </a:solidFill>
              </a:rPr>
              <a:t>FULL-STACK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Production-Ready Modern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698480" cy="18288"/>
          </a:xfrm>
          <a:prstGeom prst="rect">
            <a:avLst/>
          </a:prstGeom>
          <a:solidFill>
            <a:srgbClr val="28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20116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51460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2514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FRONTEND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67919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606040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React 18 &amp; TypeScript for bulletproof typing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33756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3264408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Vite 5.4 for lightning-fast build bundling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99592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922776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Tailwind CSS 3 for futuristic responsive 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654296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4581144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React-Leaflet &amp; OpenStreetMap for GIS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312664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5239512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Lucide Icons &amp; Canvas Confetti for interactions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920240"/>
            <a:ext cx="251460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1920240"/>
            <a:ext cx="2514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1031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B6D4"/>
                </a:solidFill>
              </a:rPr>
              <a:t>AI / ML ENGINE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1880" y="2679192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76472" y="2606040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Google Gemini Vision API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3337560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6472" y="3264408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Neural Defect Classification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399592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6472" y="3922776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Automated Severity &amp; Confidence scoring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4654296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76472" y="4581144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Spatial Deduplication &amp; Cluster matching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5312664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76472" y="5239512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CivicBot NLP Assistant for natural dialogue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920240"/>
            <a:ext cx="251460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1920240"/>
            <a:ext cx="25146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21031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B5CF6"/>
                </a:solidFill>
              </a:rPr>
              <a:t>BACKEND SERVICES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679192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9672" y="2606040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FastAPI (Python) high-throughput backend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3337560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9672" y="3264408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RESTful API endpoints for issue lifecycle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3995928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9672" y="3922776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Context-based reactive global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4654296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9672" y="4581144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LocalStorage client state persistence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5312664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9672" y="5239512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Real-time event synthesis &amp; audio telemetry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1920240"/>
            <a:ext cx="251460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61120" y="1920240"/>
            <a:ext cx="2514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98280" y="210312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B981"/>
                </a:solidFill>
              </a:rPr>
              <a:t>DEPLOY &amp; DPI OPS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2679192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62872" y="2606040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Vercel Serverless Edge deployment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333756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62872" y="3264408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GitHub CI/CD automated pipeline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98280" y="399592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62872" y="3922776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Offline-resilient image asset caching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8280" y="4654296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62872" y="4581144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Standardized Open City data format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98280" y="5312664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62872" y="5239512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Zero-latency municipal dashboard views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4114800" cy="329184"/>
          </a:xfrm>
          <a:prstGeom prst="rect">
            <a:avLst/>
          </a:prstGeom>
          <a:solidFill>
            <a:srgbClr val="1A18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6B6D4"/>
                </a:solidFill>
              </a:rPr>
              <a:t>CITIZEN EXPERIENCE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Three Steps From Defect Discovery to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698480" cy="18288"/>
          </a:xfrm>
          <a:prstGeom prst="rect">
            <a:avLst/>
          </a:prstGeom>
          <a:solidFill>
            <a:srgbClr val="28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201168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383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6B6D4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SNAP &amp; GEO-TAG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3017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Citizen detects a road hazard, opens CivicAI visor lens, snaps a photo, and the app auto-resolves Bengaluru zone coordinates and street address in milliseconds.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338328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33832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8B5CF6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AI TRIAGE &amp;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20440"/>
            <a:ext cx="3017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The AI categorizes severity, computes priority score, checks for duplicate cluster reports, and provides the citizen with a live tracking card with real-time status updates.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920240"/>
            <a:ext cx="338328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920240"/>
            <a:ext cx="33832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B981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926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VERIFY &amp;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520440"/>
            <a:ext cx="3017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Once municipal teams execute the repair, the citizen inspects Before &amp; After proof photos directly in the app, confirms resolution, and logs satisfaction.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4114800" cy="329184"/>
          </a:xfrm>
          <a:prstGeom prst="rect">
            <a:avLst/>
          </a:prstGeom>
          <a:solidFill>
            <a:srgbClr val="1A18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59E0B"/>
                </a:solidFill>
              </a:rPr>
              <a:t>MUNICIPAL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Dual-View Command &amp; Control for Officers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698480" cy="18288"/>
          </a:xfrm>
          <a:prstGeom prst="rect">
            <a:avLst/>
          </a:prstGeom>
          <a:solidFill>
            <a:srgbClr val="28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20116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12064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1206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VIEW 1: COMPLAINTS DATA QUEUE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67919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606040"/>
            <a:ext cx="4407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Chronological &amp; severity-sorted cards with high-contrast status tags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33756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264408"/>
            <a:ext cx="4407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Dual photo preview: Defect photo permanently anchored with resolution slot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99592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922776"/>
            <a:ext cx="4407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One-click 'Resolve with Proof' modal triggering verification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654296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581144"/>
            <a:ext cx="4407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Inspection detail modal with comprehensive citizen and AI audit logs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5312664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239512"/>
            <a:ext cx="4407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Status progression lifecycle: Pending -&gt; In Progress -&gt; Resolved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521208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920240"/>
            <a:ext cx="52120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031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B6D4"/>
                </a:solidFill>
              </a:rPr>
              <a:t>VIEW 2: GEOSPATIAL RESOLUTION 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679192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2606040"/>
            <a:ext cx="44988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Interactive Leaflet GIS map with fluid zoom and smooth pan navigation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337560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3264408"/>
            <a:ext cx="44988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Color-coded status markers: Pulsing Amber (Active) vs Solid Emerald (Fixed)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99592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3922776"/>
            <a:ext cx="44988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Ward-level density clustering for rapid field contractor dispatch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654296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4581144"/>
            <a:ext cx="44988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Interactive marker popups displaying issue photo, severity, and instant actions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312664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5239512"/>
            <a:ext cx="44988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2E8F0"/>
                </a:solidFill>
              </a:rPr>
              <a:t>Citywide quick-focus pills covering Koramangala, Indiranagar, Whitefield, etc.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4114800" cy="329184"/>
          </a:xfrm>
          <a:prstGeom prst="rect">
            <a:avLst/>
          </a:prstGeom>
          <a:solidFill>
            <a:srgbClr val="1A18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0B981"/>
                </a:solidFill>
              </a:rPr>
              <a:t>VERIFIABLE PHOTOGRAPHIC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Closing the Loop: Visual Audit &amp; Citizen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698480" cy="18288"/>
          </a:xfrm>
          <a:prstGeom prst="rect">
            <a:avLst/>
          </a:prstGeom>
          <a:solidFill>
            <a:srgbClr val="28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201168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420624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420624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C4899"/>
                </a:solidFill>
              </a:rPr>
              <a:t>BEFORE REPAIR (CITIZEN REPORT)</a:t>
            </a:r>
          </a:p>
        </p:txBody>
      </p:sp>
      <p:pic>
        <p:nvPicPr>
          <p:cNvPr id="9" name="Picture 8" descr="pothole_bef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68880"/>
            <a:ext cx="3840480" cy="23774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14400" y="5056632"/>
            <a:ext cx="731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983480"/>
            <a:ext cx="3675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Severity: Critical Pothole (Depth: 14cm)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513832"/>
            <a:ext cx="731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5440680"/>
            <a:ext cx="3675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Location: 80ft Road, Koramangala 4th Block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920240"/>
            <a:ext cx="420624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1920240"/>
            <a:ext cx="42062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0574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B981"/>
                </a:solidFill>
              </a:rPr>
              <a:t>AFTER REPAIR (ADMIN RESOLUTION PROOF)</a:t>
            </a:r>
          </a:p>
        </p:txBody>
      </p:sp>
      <p:pic>
        <p:nvPicPr>
          <p:cNvPr id="17" name="Picture 16" descr="pothole_af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468880"/>
            <a:ext cx="3840480" cy="23774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486400" y="5056632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50992" y="4983480"/>
            <a:ext cx="3675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Status: Bitumen Patch Sealed &amp; Leveled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5513832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0992" y="5440680"/>
            <a:ext cx="3675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Clearance Score: 98% AI Quality Confidence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1920240"/>
            <a:ext cx="164592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84080" y="1920240"/>
            <a:ext cx="16459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2103120"/>
            <a:ext cx="1463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6B6D4"/>
                </a:solidFill>
              </a:rPr>
              <a:t>98%</a:t>
            </a:r>
          </a:p>
          <a:p>
            <a:r>
              <a:rPr sz="900">
                <a:solidFill>
                  <a:srgbClr val="94A3B8"/>
                </a:solidFill>
              </a:rPr>
              <a:t>Clearance Score</a:t>
            </a:r>
          </a:p>
          <a:p>
            <a:r>
              <a:rPr sz="2000" b="1">
                <a:solidFill>
                  <a:srgbClr val="06B6D4"/>
                </a:solidFill>
              </a:rPr>
              <a:t>1.8 Days</a:t>
            </a:r>
          </a:p>
          <a:p>
            <a:r>
              <a:rPr sz="900">
                <a:solidFill>
                  <a:srgbClr val="94A3B8"/>
                </a:solidFill>
              </a:rPr>
              <a:t>Resolution Time</a:t>
            </a:r>
          </a:p>
          <a:p>
            <a:r>
              <a:rPr sz="2000" b="1">
                <a:solidFill>
                  <a:srgbClr val="06B6D4"/>
                </a:solidFill>
              </a:rPr>
              <a:t>100%</a:t>
            </a:r>
          </a:p>
          <a:p>
            <a:r>
              <a:rPr sz="900">
                <a:solidFill>
                  <a:srgbClr val="94A3B8"/>
                </a:solidFill>
              </a:rPr>
              <a:t>Citizen Confirmed</a:t>
            </a:r>
          </a:p>
          <a:p>
            <a:r>
              <a:rPr sz="2000" b="1">
                <a:solidFill>
                  <a:srgbClr val="06B6D4"/>
                </a:solidFill>
              </a:rPr>
              <a:t>Verified</a:t>
            </a:r>
          </a:p>
          <a:p>
            <a:r>
              <a:rPr sz="900">
                <a:solidFill>
                  <a:srgbClr val="94A3B8"/>
                </a:solidFill>
              </a:rPr>
              <a:t>BBMP Audit Seal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4114800" cy="329184"/>
          </a:xfrm>
          <a:prstGeom prst="rect">
            <a:avLst/>
          </a:prstGeom>
          <a:solidFill>
            <a:srgbClr val="1A18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6B6D4"/>
                </a:solidFill>
              </a:rPr>
              <a:t>IMPACT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Tangible Governance Transformation in Bengaluru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698480" cy="18288"/>
          </a:xfrm>
          <a:prstGeom prst="rect">
            <a:avLst/>
          </a:prstGeom>
          <a:solidFill>
            <a:srgbClr val="28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201168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514600" cy="2011680"/>
          </a:xfrm>
          <a:prstGeom prst="rect">
            <a:avLst/>
          </a:prstGeom>
          <a:solidFill>
            <a:srgbClr val="1312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2514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2240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6B6D4"/>
                </a:solidFill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Accident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2240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E2E8F0"/>
                </a:solidFill>
              </a:rPr>
              <a:t>Drop in localized road accidents in pilot wards within 60 days of deployment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920240"/>
            <a:ext cx="2514600" cy="2011680"/>
          </a:xfrm>
          <a:prstGeom prst="rect">
            <a:avLst/>
          </a:prstGeom>
          <a:solidFill>
            <a:srgbClr val="13122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920240"/>
            <a:ext cx="2514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057400"/>
            <a:ext cx="2240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B981"/>
                </a:solidFill>
              </a:rPr>
              <a:t>3.2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6060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Avg Turnaround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971800"/>
            <a:ext cx="2240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E2E8F0"/>
                </a:solidFill>
              </a:rPr>
              <a:t>From 30+ days down to 76 hours average time to verified fix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2514600" cy="2011680"/>
          </a:xfrm>
          <a:prstGeom prst="rect">
            <a:avLst/>
          </a:prstGeom>
          <a:solidFill>
            <a:srgbClr val="13122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25146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057400"/>
            <a:ext cx="2240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5CF6"/>
                </a:solidFill>
              </a:rPr>
              <a:t>94%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060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Defect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971800"/>
            <a:ext cx="2240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E2E8F0"/>
                </a:solidFill>
              </a:rPr>
              <a:t>High-precision computer vision defect categorization and severity tagging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920240"/>
            <a:ext cx="2514600" cy="2011680"/>
          </a:xfrm>
          <a:prstGeom prst="rect">
            <a:avLst/>
          </a:prstGeom>
          <a:solidFill>
            <a:srgbClr val="13122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920240"/>
            <a:ext cx="2514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057400"/>
            <a:ext cx="2240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9E0B"/>
                </a:solidFill>
              </a:rPr>
              <a:t>35+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6060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Bengaluru Localities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971800"/>
            <a:ext cx="2240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E2E8F0"/>
                </a:solidFill>
              </a:rPr>
              <a:t>Complete zone coverage across Central, South, East, and Tech Corridors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06240"/>
            <a:ext cx="10698480" cy="2011680"/>
          </a:xfrm>
          <a:prstGeom prst="rect">
            <a:avLst/>
          </a:prstGeom>
          <a:solidFill>
            <a:srgbClr val="13122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206240"/>
            <a:ext cx="106984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343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B5CF6"/>
                </a:solidFill>
              </a:rPr>
              <a:t>STRATEGIC CIVIC IMPACT FOR DIGITAL PUBLIC INFRASTRUCTURE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4782312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2" y="4709160"/>
            <a:ext cx="9893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Restoring Public Faith: Direct visual proof builds unmatched transparency between citizens and government.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5193792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5120640"/>
            <a:ext cx="9893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Preventing Budget Leakage: Municipal funds are paid only upon visual verification of completed work orders.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605272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0432" y="5532120"/>
            <a:ext cx="9893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Scalable DPI Blueprint: Modular design allows rapid deployment to other Indian Tier-1 &amp; Tier-2 smart cities.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4114800" cy="329184"/>
          </a:xfrm>
          <a:prstGeom prst="rect">
            <a:avLst/>
          </a:prstGeom>
          <a:solidFill>
            <a:srgbClr val="1A183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8B5CF6"/>
                </a:solidFill>
              </a:rP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Scaling from Local Hackathon to National DPI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698480" cy="18288"/>
          </a:xfrm>
          <a:prstGeom prst="rect">
            <a:avLst/>
          </a:prstGeom>
          <a:solidFill>
            <a:srgbClr val="28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201168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383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6B6D4"/>
                </a:solidFill>
              </a:rPr>
              <a:t>PHASE 1 / CURRENT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017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Hackathon MVP &amp; Live 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82112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108960"/>
            <a:ext cx="2852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2E8F0"/>
                </a:solidFill>
              </a:rPr>
              <a:t>React + TypeScript + Vite responsive web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822192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749040"/>
            <a:ext cx="2852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2E8F0"/>
                </a:solidFill>
              </a:rPr>
              <a:t>35+ Bengaluru pre-configured urban zones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462272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389120"/>
            <a:ext cx="2852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2E8F0"/>
                </a:solidFill>
              </a:rPr>
              <a:t>Computer Vision defect scanner with HUD telemetry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102352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029200"/>
            <a:ext cx="2852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2E8F0"/>
                </a:solidFill>
              </a:rPr>
              <a:t>Before &amp; After photo upload &amp; verification 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742432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669280"/>
            <a:ext cx="2852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2E8F0"/>
                </a:solidFill>
              </a:rPr>
              <a:t>Live Production Deployment on Vercel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920240"/>
            <a:ext cx="338328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1920240"/>
            <a:ext cx="33832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B5CF6"/>
                </a:solidFill>
              </a:rPr>
              <a:t>PHASE 2 / Q4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423160"/>
            <a:ext cx="3017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Municipal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182112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6592" y="3108960"/>
            <a:ext cx="2852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2E8F0"/>
                </a:solidFill>
              </a:rPr>
              <a:t>Direct API bridges to BBMP Sahaya &amp; e-Governance portals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822192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3749040"/>
            <a:ext cx="2852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2E8F0"/>
                </a:solidFill>
              </a:rPr>
              <a:t>Contractor mobile companion app for field crews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462272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6592" y="4389120"/>
            <a:ext cx="2852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2E8F0"/>
                </a:solidFill>
              </a:rPr>
              <a:t>Automated push notifications via WhatsApp &amp; SMS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5102352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5029200"/>
            <a:ext cx="2852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2E8F0"/>
                </a:solidFill>
              </a:rPr>
              <a:t>PostgreSQL + PostGIS geospatial enterprise backend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5742432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5669280"/>
            <a:ext cx="2852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2E8F0"/>
                </a:solidFill>
              </a:rPr>
              <a:t>Automated drone &amp; dashcam survey video ingestion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1920240"/>
            <a:ext cx="3383280" cy="4297680"/>
          </a:xfrm>
          <a:prstGeom prst="rect">
            <a:avLst/>
          </a:prstGeom>
          <a:solidFill>
            <a:srgbClr val="13122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1920240"/>
            <a:ext cx="3383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21031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PHASE 3 / 2027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423160"/>
            <a:ext cx="3017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Autonomous Smart Cities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18211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4192" y="3108960"/>
            <a:ext cx="2852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2E8F0"/>
                </a:solidFill>
              </a:rPr>
              <a:t>Predictive Road Maintenance: AI forecasting road failures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382219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94192" y="3749040"/>
            <a:ext cx="2852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2E8F0"/>
                </a:solidFill>
              </a:rPr>
              <a:t>Decentralized proof of repair on public blockchain ledgers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446227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92" y="4389120"/>
            <a:ext cx="2852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2E8F0"/>
                </a:solidFill>
              </a:rPr>
              <a:t>Gamified citizen civic contribution rewards &amp; green credits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510235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94192" y="5029200"/>
            <a:ext cx="2852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2E8F0"/>
                </a:solidFill>
              </a:rPr>
              <a:t>National DPI expansion across 15+ smart cities in India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574243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94192" y="5669280"/>
            <a:ext cx="2852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2E8F0"/>
                </a:solidFill>
              </a:rPr>
              <a:t>Integration with National Emergency &amp; 112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Thank You!</a:t>
            </a:r>
          </a:p>
          <a:p>
            <a:pPr algn="ctr"/>
            <a:r>
              <a:rPr sz="1600" b="1">
                <a:solidFill>
                  <a:srgbClr val="06B6D4"/>
                </a:solidFill>
              </a:rPr>
              <a:t>Track 1 — AI for Digital Public Infrastructure &amp; Governance</a:t>
            </a:r>
          </a:p>
          <a:p>
            <a:pPr algn="ctr"/>
            <a:r>
              <a:rPr sz="1300">
                <a:solidFill>
                  <a:srgbClr val="94A3B8"/>
                </a:solidFill>
              </a:rPr>
              <a:t>CivicAI: Transforming Citizen Grievances into Verifiable Public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2377440"/>
            <a:ext cx="4206240" cy="3474720"/>
          </a:xfrm>
          <a:prstGeom prst="rect">
            <a:avLst/>
          </a:prstGeom>
          <a:solidFill>
            <a:srgbClr val="13122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0" y="2377440"/>
            <a:ext cx="420624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2560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B5CF6"/>
                </a:solidFill>
              </a:rPr>
              <a:t>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0175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Panchaksharayya</a:t>
            </a:r>
          </a:p>
          <a:p>
            <a:r>
              <a:rPr sz="1200">
                <a:solidFill>
                  <a:srgbClr val="E2E8F0"/>
                </a:solidFill>
              </a:rPr>
              <a:t>Full-Stack Development &amp; AI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402336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Rashmi</a:t>
            </a:r>
          </a:p>
          <a:p>
            <a:r>
              <a:rPr sz="1200">
                <a:solidFill>
                  <a:srgbClr val="E2E8F0"/>
                </a:solidFill>
              </a:rPr>
              <a:t>UI/UX &amp; Civic Engagement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377440"/>
            <a:ext cx="4206240" cy="3474720"/>
          </a:xfrm>
          <a:prstGeom prst="rect">
            <a:avLst/>
          </a:prstGeom>
          <a:solidFill>
            <a:srgbClr val="1312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377440"/>
            <a:ext cx="42062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B6D4"/>
                </a:solidFill>
              </a:rPr>
              <a:t>PROJECT LINKS &amp; REPOSITORY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090672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3017520"/>
            <a:ext cx="3493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Live Web Deployment:
civicai-neon.vercel.app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913632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8272" y="3840480"/>
            <a:ext cx="3493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GitHub Repository:
github.com/panchaksharayya12/civicai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4736592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4663440"/>
            <a:ext cx="3493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Hackathon Track:
Track 1 — AI for DPI &amp;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