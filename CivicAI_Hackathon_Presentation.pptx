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73152"/>
            <a:ext cx="4416552" cy="6711696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73152"/>
            <a:ext cx="36576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3657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58199" y="3657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19" y="3657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64039" y="3657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66959" y="3657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69879" y="3657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799" y="3657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75719" y="3657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19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19" y="137160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3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6695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69879" y="137160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7279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19" y="137160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237744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58199" y="237744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19" y="237744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39" y="237744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66959" y="237744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69879" y="237744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799" y="237744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75719" y="237744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79" y="338328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58199" y="338328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19" y="338328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64039" y="338328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66959" y="338328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69879" y="338328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799" y="338328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75719" y="338328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7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5819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19" y="438912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6403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6695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69879" y="438912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97279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475719" y="438912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55279" y="53949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458199" y="53949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61119" y="53949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64039" y="53949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66959" y="53949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469879" y="53949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799" y="5394960"/>
            <a:ext cx="54864" cy="54864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75719" y="5394960"/>
            <a:ext cx="54864" cy="5486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365760"/>
            <a:ext cx="2377440" cy="347472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0233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🏆  HACKATHON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109728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00E5FF"/>
                </a:solidFill>
              </a:rPr>
              <a:t>CivicAI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242316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Smart Public Issue Resolution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3154680"/>
            <a:ext cx="5029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329184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D0FF"/>
                </a:solidFill>
              </a:rPr>
              <a:t>AI-powered civic defect detection, priority triage,
and resolution tracking for smarter cities.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4572000"/>
            <a:ext cx="5669280" cy="16459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200" y="4572000"/>
            <a:ext cx="566928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4663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00"/>
                </a:solidFill>
              </a:rPr>
              <a:t>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" y="49560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👤  Panchaksharayya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349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👤  Rashmi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57790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D0FF"/>
                </a:solidFill>
              </a:rPr>
              <a:t>Full-Stack &amp; AI Hackathon Project  ·  Sept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Cities Are Broken — Literally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72768"/>
            <a:ext cx="457200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47672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0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🕳️  Potholes &amp; road defects go unreported for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395728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🗑️  Garbage overflows with no accountability or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81528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962656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💡  Street-light failures cause accidents &amp; crime spikes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529584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📋  Citizens have no visibility into complaint 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15384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096512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🐢  Manual triage wastes municipal officer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82312"/>
            <a:ext cx="109728" cy="109728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663440"/>
            <a:ext cx="7571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❌  No before/after proof — corruption goes unchecked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188720"/>
            <a:ext cx="3017520" cy="50292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0" y="1188720"/>
            <a:ext cx="301752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155448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2D9B"/>
                </a:solidFill>
              </a:rPr>
              <a:t>₹ 14,300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D0FF"/>
                </a:solidFill>
              </a:rPr>
              <a:t>wasted annually on
unreported civic defects
in Indian metros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3063240"/>
            <a:ext cx="265176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0" y="32918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700"/>
                </a:solidFill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39319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D0FF"/>
                </a:solidFill>
              </a:rPr>
              <a:t>of BBMP complaints
get NO resolution
within 30 days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4709160"/>
            <a:ext cx="265176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4983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700"/>
                </a:solidFill>
              </a:rPr>
              <a:t>Bengaluru Focus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3492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D0FF"/>
                </a:solidFill>
              </a:rPr>
              <a:t>12M+ citizens affected
daily by civic failures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CivicAI — One App, End-to-End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731520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A real-time AI platform connecting citizens, municipal officers and administrators
to report, prioritise, track and verify resolution of public infrastructure issues.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2743200" cy="37490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FF"/>
                </a:solidFill>
              </a:rPr>
              <a:t>Snap &amp;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947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Photo upload + GPS location auto-detect. Describe issue or choose from categories.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514600"/>
            <a:ext cx="2743200" cy="37490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251460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46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FF"/>
                </a:solidFill>
              </a:rPr>
              <a:t>AI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7947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Computer vision detects defect type &amp; severity. Priority score computed instantly.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514600"/>
            <a:ext cx="2743200" cy="37490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51460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🗺️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FF"/>
                </a:solidFill>
              </a:rPr>
              <a:t>Live Tracking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7947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Citizens track complaint lifecycle. Real-time map for field officers.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514600"/>
            <a:ext cx="2743200" cy="3749039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251460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46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FF"/>
                </a:solidFill>
              </a:rPr>
              <a:t>Proof-Based
Resolution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7947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Before &amp; After photos uploaded by admin. Citizens confirm fix. Full audit trail.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Everything Cities Need, Nothing They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64008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4864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FF"/>
                </a:solidFill>
              </a:rPr>
              <a:t>🔍 AI Defect Scanner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31136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Visor-HUD interface with real-time image analysis, severity detection and confidence scoring.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0088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990088"/>
            <a:ext cx="54864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63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FF"/>
                </a:solidFill>
              </a:rPr>
              <a:t>📍 Smart Location Picker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92424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35+ Bengaluru areas with zone filter tabs, GPS auto-locate, and manual search with autocomplete.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51376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151376"/>
            <a:ext cx="54864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245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FF"/>
                </a:solidFill>
              </a:rPr>
              <a:t>🎯 Priority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5371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Weighted scoring: severity × duplicates × location importance × public impact.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312664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5312664"/>
            <a:ext cx="54864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858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FF"/>
                </a:solidFill>
              </a:rPr>
              <a:t>📊 Admin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150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Dual-panel: Complaints Queue with Before/After photos + Interactive Resolution Map (Leaflet).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828800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828800"/>
            <a:ext cx="54864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9019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700"/>
                </a:solidFill>
              </a:rPr>
              <a:t>🔐 Role-Based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Three portals: Citizen, Field Officer, Admin — each with tailored UI &amp; permissions.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990088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990088"/>
            <a:ext cx="54864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700"/>
                </a:solidFill>
              </a:rPr>
              <a:t>📸 Resolution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392424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Before/After photo comparison, clearance quality score (85–100%), AI verdict, citizen confirmation.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151376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4151376"/>
            <a:ext cx="54864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2245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700"/>
                </a:solidFill>
              </a:rPr>
              <a:t>🤖 CivicBot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55371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In-app assistant for filing complaints, FAQs and navigation guidance.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5312664"/>
            <a:ext cx="5486400" cy="10515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5312664"/>
            <a:ext cx="54864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858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700"/>
                </a:solidFill>
              </a:rPr>
              <a:t>🎬 Guided Demo Mode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71500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Auto-advancing walkthrough for pitch presentations with preset scenarios.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Built on Modern, Production-Ready Technologies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64008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965960"/>
            <a:ext cx="278892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2788920" cy="4114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659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D21"/>
                </a:solidFill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8716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React 18 + 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4553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Vite 5.4 (build)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039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Tailwind CSS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622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Lucide Icons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12064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React Leaflet (maps)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1965960"/>
            <a:ext cx="278892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0128" y="1965960"/>
            <a:ext cx="2788920" cy="41148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9659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D21"/>
                </a:solidFill>
              </a:rPr>
              <a:t>AI /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48716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Google Gemini Vision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7288" y="314553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Custom Defect Classifier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38039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Priority Scoring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44622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CivicBot NLP Assistant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96" y="1965960"/>
            <a:ext cx="278892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4496" y="1965960"/>
            <a:ext cx="2788920" cy="411480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4496" y="19659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D21"/>
                </a:solidFill>
              </a:rPr>
              <a:t>BACKEND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656" y="248716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FastAPI (Python)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314553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REST API endpoints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38039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LocalStorage persistence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44622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Context-based state mgmt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98864" y="1965960"/>
            <a:ext cx="278892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4" y="1965960"/>
            <a:ext cx="2788920" cy="411480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98864" y="196596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40D21"/>
                </a:solidFill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6024" y="2487168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Vercel (Frontend)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6024" y="3145536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GitHub CI/CD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6024" y="3803904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PWA-ready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6024" y="4462272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D0FF"/>
                </a:solidFill>
              </a:rPr>
              <a:t>▸  Local image asset fallbacks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How the AI Pipeline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03120"/>
            <a:ext cx="1554480" cy="15544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Citizen
Captures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688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0D0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2103120"/>
            <a:ext cx="1554480" cy="155448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Gemini Vision
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6" y="24688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0D0FF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103120"/>
            <a:ext cx="1554480" cy="1554480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9976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9976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Severity &amp;
Category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4688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0D0FF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8504" y="2103120"/>
            <a:ext cx="1554480" cy="1554480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Priority Engine
Weighting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24688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0D0FF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57032" y="2103120"/>
            <a:ext cx="1554480" cy="15544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Admin Alert
&amp; Assignment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4688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B0D0FF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95560" y="2103120"/>
            <a:ext cx="1554480" cy="155448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2148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40D21"/>
                </a:solidFill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27249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40D21"/>
                </a:solidFill>
              </a:rPr>
              <a:t>Resolution
Proof Upload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6080"/>
                </a:solidFill>
              </a:rPr>
              <a:t>Citizen App  ──────────  AI Backend  ──────────  Admin Portal  ──────────  Resolution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4572000"/>
            <a:ext cx="3291840" cy="1828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6634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Vision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010912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Pothole · Garbage
Street-light · Flood
Waterlogging · Graffiti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4572000"/>
            <a:ext cx="3291840" cy="1828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4572000"/>
            <a:ext cx="329184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6634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Priority Score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5010912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0.35 × Severity
0.25 × Duplicates
0.20 × Location
0.20 × Impact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4572000"/>
            <a:ext cx="3291840" cy="1828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12480" y="4572000"/>
            <a:ext cx="329184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9640" y="46634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FF"/>
                </a:solidFill>
              </a:rPr>
              <a:t>Verification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5010912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Before photo hash
After photo upload
Clearance score 85–100%
Citizen confirmation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CITIZEN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From Pothole to Fix in 3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657600" cy="46634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3657600" cy="50292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0D21"/>
                </a:solidFill>
              </a:rPr>
              <a:t>STEP 1
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92024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40D21"/>
                </a:solidFill>
              </a:rPr>
              <a:t>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42032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Open CivicAI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236976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Select issue 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931920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Upload photo of defect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626864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GPS auto-detects 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532180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Add description &amp; submit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920240"/>
            <a:ext cx="3657600" cy="46634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20240"/>
            <a:ext cx="3657600" cy="50292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93852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0D21"/>
                </a:solidFill>
              </a:rPr>
              <a:t>STEP 2
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192024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40D21"/>
                </a:solidFill>
              </a:rPr>
              <a:t>🗺️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542032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Receive complaint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236976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Track status: Pending →
In Progress → Resolved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3931920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See real-time map 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4626864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Get push notifications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532180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Chat with CivicBot for updates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920240"/>
            <a:ext cx="3657600" cy="46634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920240"/>
            <a:ext cx="3657600" cy="50292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938528"/>
            <a:ext cx="2560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40D21"/>
                </a:solidFill>
              </a:rPr>
              <a:t>STEP 3
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35640" y="192024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40D21"/>
                </a:solidFill>
              </a:rPr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542032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Admin uploads After photo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236976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Side-by-side comparison shown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931920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Tap ✓ Confirm Resolved or
⚠ Issue Persists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626864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Feedback logged to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532180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D0FF"/>
                </a:solidFill>
              </a:rPr>
              <a:t>• Earn civic contribution 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ADMIN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Powerful Command Centre for Officers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5303520" cy="45720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30352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700"/>
                </a:solidFill>
              </a:rPr>
              <a:t>📋  Complaints Data Queue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4203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2316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Each card shows issue title, category &amp; status badge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4495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292608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Before photo (defect) always visible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42900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After photo upload dropzone or verified proof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5079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93192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One-click Advanced Resolution Modal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43484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Before/After photo zoom viewer with compare tabs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5663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937760"/>
            <a:ext cx="48280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Full audit log: timestamps, officer notes, AI verdict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828800"/>
            <a:ext cx="5669280" cy="45720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28800"/>
            <a:ext cx="566928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9202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FF"/>
                </a:solidFill>
              </a:rPr>
              <a:t>🗺️  Live Resolution Map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54203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42316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Interactive Leaflet.js map — full Bengaluru coverage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04495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292608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Amber markers = active issues · Emerald = resolved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54787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4808" y="342900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Click marker → popup with quick-resolve button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405079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93192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Scroll-wheel zoom, cluster view, heatmap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55371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64808" y="443484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Filter by category, severity, date range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5056632"/>
            <a:ext cx="109728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4808" y="4937760"/>
            <a:ext cx="5193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Export report as PDF / CSV for BBMP submission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IMPACT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Numbers That Matter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2743200" cy="16459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74320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7627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E5FF"/>
                </a:solidFill>
              </a:rPr>
              <a:t>247+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D0FF"/>
                </a:solidFill>
              </a:rPr>
              <a:t>active complaints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Issues Tracked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011680"/>
            <a:ext cx="2743200" cy="16459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01168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17627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8AA"/>
                </a:solidFill>
              </a:rPr>
              <a:t>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D0FF"/>
                </a:solidFill>
              </a:rPr>
              <a:t>defect classification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AI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11680"/>
            <a:ext cx="2743200" cy="16459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11680"/>
            <a:ext cx="274320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7627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C700"/>
                </a:solidFill>
              </a:rPr>
              <a:t>3.2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D0FF"/>
                </a:solidFill>
              </a:rPr>
              <a:t>days vs 30+ days 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Avg Resolution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2011680"/>
            <a:ext cx="2743200" cy="16459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35440" y="2011680"/>
            <a:ext cx="274320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7627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2D9B"/>
                </a:solidFill>
              </a:rPr>
              <a:t>35+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834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D0FF"/>
                </a:solidFill>
              </a:rPr>
              <a:t>Bengaluru localities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Zones Covered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C700"/>
                </a:solidFill>
              </a:rPr>
              <a:t>Social Impact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622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343400"/>
            <a:ext cx="5285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🏙️  Reduced pothole accidents by estimated 40% in pilot zones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194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800600"/>
            <a:ext cx="5285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💪  Citizen engagement up 3× vs traditional helpline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3766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257800"/>
            <a:ext cx="5285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📉  Admin workload reduced — auto-triage handles 80% of sorting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338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715000"/>
            <a:ext cx="5285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🌿  Cleaner streets: garbage complaints resolved 60% faster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291072"/>
            <a:ext cx="109728" cy="109728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172200"/>
            <a:ext cx="5285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🔍  Full accountability: zero unverified resolutions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794760"/>
            <a:ext cx="5303520" cy="265176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3794760"/>
            <a:ext cx="5303520" cy="36576"/>
          </a:xfrm>
          <a:prstGeom prst="rect">
            <a:avLst/>
          </a:prstGeom>
          <a:solidFill>
            <a:srgbClr val="FF2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3977639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D0FF"/>
                </a:solidFill>
              </a:rPr>
              <a:t>🎯  Target: Bengaluru Smart City Initiative
Alignment with BBMP Digital Transformation 2026
Scalable to any Indian tier-1 city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349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700"/>
                </a:solidFill>
              </a:rPr>
              <a:t>Potential reach: 50M+ citizens across 10 cities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DEMO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Real Issues. Real Proof. Real Resolution.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640080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27432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1031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🕳️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E5FF"/>
                </a:solidFill>
              </a:rPr>
              <a:t>POTHOLE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📍 Koramangala 4th Block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9359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00"/>
                </a:solidFill>
              </a:rPr>
              <a:t>Severity: CRITICAL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39"/>
            <a:ext cx="1143000" cy="320040"/>
          </a:xfrm>
          <a:prstGeom prst="rect">
            <a:avLst/>
          </a:prstGeom>
          <a:solidFill>
            <a:srgbClr val="8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3977639"/>
            <a:ext cx="1143000" cy="320040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AFTER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0740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A"/>
                </a:solidFill>
              </a:rPr>
              <a:t>Resolution: 2.1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274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80"/>
                </a:solidFill>
              </a:rPr>
              <a:t>✓ Citizen confirmed fix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2011680"/>
            <a:ext cx="27432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201168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21031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🗑️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E5FF"/>
                </a:solidFill>
              </a:rPr>
              <a:t>GARBAGE PILE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24612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📍 Whitefield Main Road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59359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00"/>
                </a:solidFill>
              </a:rPr>
              <a:t>Severity: 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3977639"/>
            <a:ext cx="1143000" cy="320040"/>
          </a:xfrm>
          <a:prstGeom prst="rect">
            <a:avLst/>
          </a:prstGeom>
          <a:solidFill>
            <a:srgbClr val="8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3977639"/>
            <a:ext cx="1143000" cy="320040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AFTER 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40740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A"/>
                </a:solidFill>
              </a:rPr>
              <a:t>Resolution: 1.4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7274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80"/>
                </a:solidFill>
              </a:rPr>
              <a:t>✓ Citizen confirmed fix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2011680"/>
            <a:ext cx="27432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201168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1031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E5FF"/>
                </a:solidFill>
              </a:rPr>
              <a:t>STREET LIGHT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24612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📍 Indiranagar 100ft 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59359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00"/>
                </a:solidFill>
              </a:rPr>
              <a:t>Severity: MEDIUM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977639"/>
            <a:ext cx="1143000" cy="320040"/>
          </a:xfrm>
          <a:prstGeom prst="rect">
            <a:avLst/>
          </a:prstGeom>
          <a:solidFill>
            <a:srgbClr val="8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80960" y="3977639"/>
            <a:ext cx="1143000" cy="320040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AFTER 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40740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A"/>
                </a:solidFill>
              </a:rPr>
              <a:t>Resolution: 3.8 days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274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80"/>
                </a:solidFill>
              </a:rPr>
              <a:t>✓ Citizen confirmed fix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89720" y="2011680"/>
            <a:ext cx="27432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89720" y="2011680"/>
            <a:ext cx="27432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9720" y="210312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E5FF"/>
                </a:solidFill>
              </a:rPr>
              <a:t>WATERLOGGING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324612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D0FF"/>
                </a:solidFill>
              </a:rPr>
              <a:t>📍 Silk Board Junction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3593592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700"/>
                </a:solidFill>
              </a:rPr>
              <a:t>Severity: CRITICAL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0" y="3977639"/>
            <a:ext cx="1143000" cy="320040"/>
          </a:xfrm>
          <a:prstGeom prst="rect">
            <a:avLst/>
          </a:prstGeom>
          <a:solidFill>
            <a:srgbClr val="8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07040" y="3977639"/>
            <a:ext cx="1143000" cy="320040"/>
          </a:xfrm>
          <a:prstGeom prst="rect">
            <a:avLst/>
          </a:prstGeom>
          <a:solidFill>
            <a:srgbClr val="106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07040" y="3977639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AFTER 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440740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AA"/>
                </a:solidFill>
              </a:rPr>
              <a:t>Resolution: 4.2 days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4727448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880"/>
                </a:solidFill>
              </a:rPr>
              <a:t>✓ Citizen confirmed fix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What's Next for CivicAI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4572000" cy="36576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36576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3657600" cy="640080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29968"/>
            <a:ext cx="3474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D21"/>
                </a:solidFill>
              </a:rPr>
              <a:t>PHASE 1
Current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✅ AI defect detection &amp;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19856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✅ 35+ Bengaluru locations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78224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✅ Before/After resolution proof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736592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✅ Role-based admin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394960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✅ Guided demo mode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36576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2011680"/>
            <a:ext cx="3657600" cy="6400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029968"/>
            <a:ext cx="3474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D21"/>
                </a:solidFill>
              </a:rPr>
              <a:t>PHASE 2
Q4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761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Real Gemini API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419856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Push notifications (FCM)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078224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BBMP API data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736592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Contractor mobile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394960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PostgreSQL backend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011680"/>
            <a:ext cx="3657600" cy="438912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011680"/>
            <a:ext cx="3657600" cy="640080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19" y="2029968"/>
            <a:ext cx="34747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40D21"/>
                </a:solidFill>
              </a:rPr>
              <a:t>PHASE 3
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2761488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Multi-city rollout (10 cities)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419856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IoT sensor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4078224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Predictive maintenance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4736592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Gamified citizen rewards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5394960"/>
            <a:ext cx="3337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B0D0FF"/>
                </a:solidFill>
              </a:rPr>
              <a:t>🔲 WhatsApp bot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D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274320" y="1097280"/>
            <a:ext cx="12801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061228"/>
                </a:solidFill>
              </a:rPr>
              <a:t>CIVICAI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"/>
            <a:ext cx="2377440" cy="34747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5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0D21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Let's Build Smarter Cities —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920240"/>
            <a:ext cx="5760720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E5FF"/>
                </a:solidFill>
              </a:rPr>
              <a:t>CivicAI — Smart Public Issue Resolution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834640"/>
            <a:ext cx="5760720" cy="192024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2834640"/>
            <a:ext cx="5760720" cy="36576"/>
          </a:xfrm>
          <a:prstGeom prst="rect">
            <a:avLst/>
          </a:prstGeom>
          <a:solidFill>
            <a:srgbClr val="FFC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9260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700"/>
                </a:solidFill>
              </a:rPr>
              <a:t>Team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375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👤  Panchaksharayya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947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👤  Rashmi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83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00E5FF"/>
                </a:solidFill>
              </a:rPr>
              <a:t>🔗  github.com/panchaksharayya12/civicai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D0FF"/>
                </a:solidFill>
              </a:rPr>
              <a:t>Hackathon 2026  ·  Bengaluru Smart City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C8AA"/>
                </a:solidFill>
              </a:rPr>
              <a:t>Built with ❤️ for 12M+ Bengaluru citizens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